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Lst>
  <p:sldSz cx="9144000" cy="6858000" type="screen4x3"/>
  <p:notesSz cx="6858000" cy="9144000"/>
  <p:defaultText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84380"/>
    <p:restoredTop sz="94660"/>
  </p:normalViewPr>
  <p:slideViewPr>
    <p:cSldViewPr>
      <p:cViewPr varScale="1">
        <p:scale>
          <a:sx n="66" d="100"/>
          <a:sy n="66" d="100"/>
        </p:scale>
        <p:origin x="-1506" y="18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ar-IQ"/>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ar-IQ"/>
          </a:p>
        </p:txBody>
      </p:sp>
      <p:sp>
        <p:nvSpPr>
          <p:cNvPr id="4" name="Date Placeholder 3"/>
          <p:cNvSpPr>
            <a:spLocks noGrp="1"/>
          </p:cNvSpPr>
          <p:nvPr>
            <p:ph type="dt" sz="half" idx="10"/>
          </p:nvPr>
        </p:nvSpPr>
        <p:spPr/>
        <p:txBody>
          <a:bodyPr/>
          <a:lstStyle/>
          <a:p>
            <a:fld id="{C25A95B4-EB57-46D3-BC60-65C7FE28E53C}" type="datetimeFigureOut">
              <a:rPr lang="ar-IQ" smtClean="0"/>
              <a:t>23/11/1439</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IQ"/>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Date Placeholder 3"/>
          <p:cNvSpPr>
            <a:spLocks noGrp="1"/>
          </p:cNvSpPr>
          <p:nvPr>
            <p:ph type="dt" sz="half" idx="10"/>
          </p:nvPr>
        </p:nvSpPr>
        <p:spPr/>
        <p:txBody>
          <a:bodyPr/>
          <a:lstStyle/>
          <a:p>
            <a:fld id="{C25A95B4-EB57-46D3-BC60-65C7FE28E53C}" type="datetimeFigureOut">
              <a:rPr lang="ar-IQ" smtClean="0"/>
              <a:t>23/11/1439</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ar-IQ"/>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25A95B4-EB57-46D3-BC60-65C7FE28E53C}" type="datetimeFigureOut">
              <a:rPr lang="ar-IQ" smtClean="0"/>
              <a:t>23/11/1439</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IQ"/>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5" name="Date Placeholder 4"/>
          <p:cNvSpPr>
            <a:spLocks noGrp="1"/>
          </p:cNvSpPr>
          <p:nvPr>
            <p:ph type="dt" sz="half" idx="10"/>
          </p:nvPr>
        </p:nvSpPr>
        <p:spPr/>
        <p:txBody>
          <a:bodyPr/>
          <a:lstStyle/>
          <a:p>
            <a:fld id="{C25A95B4-EB57-46D3-BC60-65C7FE28E53C}" type="datetimeFigureOut">
              <a:rPr lang="ar-IQ" smtClean="0"/>
              <a:t>23/11/1439</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ar-IQ"/>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7" name="Date Placeholder 6"/>
          <p:cNvSpPr>
            <a:spLocks noGrp="1"/>
          </p:cNvSpPr>
          <p:nvPr>
            <p:ph type="dt" sz="half" idx="10"/>
          </p:nvPr>
        </p:nvSpPr>
        <p:spPr/>
        <p:txBody>
          <a:bodyPr/>
          <a:lstStyle/>
          <a:p>
            <a:fld id="{C25A95B4-EB57-46D3-BC60-65C7FE28E53C}" type="datetimeFigureOut">
              <a:rPr lang="ar-IQ" smtClean="0"/>
              <a:t>23/11/1439</a:t>
            </a:fld>
            <a:endParaRPr lang="ar-IQ"/>
          </a:p>
        </p:txBody>
      </p:sp>
      <p:sp>
        <p:nvSpPr>
          <p:cNvPr id="8" name="Footer Placeholder 7"/>
          <p:cNvSpPr>
            <a:spLocks noGrp="1"/>
          </p:cNvSpPr>
          <p:nvPr>
            <p:ph type="ftr" sz="quarter" idx="11"/>
          </p:nvPr>
        </p:nvSpPr>
        <p:spPr/>
        <p:txBody>
          <a:bodyPr/>
          <a:lstStyle/>
          <a:p>
            <a:endParaRPr lang="ar-IQ"/>
          </a:p>
        </p:txBody>
      </p:sp>
      <p:sp>
        <p:nvSpPr>
          <p:cNvPr id="9" name="Slide Number Placeholder 8"/>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IQ"/>
          </a:p>
        </p:txBody>
      </p:sp>
      <p:sp>
        <p:nvSpPr>
          <p:cNvPr id="3" name="Date Placeholder 2"/>
          <p:cNvSpPr>
            <a:spLocks noGrp="1"/>
          </p:cNvSpPr>
          <p:nvPr>
            <p:ph type="dt" sz="half" idx="10"/>
          </p:nvPr>
        </p:nvSpPr>
        <p:spPr/>
        <p:txBody>
          <a:bodyPr/>
          <a:lstStyle/>
          <a:p>
            <a:fld id="{C25A95B4-EB57-46D3-BC60-65C7FE28E53C}" type="datetimeFigureOut">
              <a:rPr lang="ar-IQ" smtClean="0"/>
              <a:t>23/11/1439</a:t>
            </a:fld>
            <a:endParaRPr lang="ar-IQ"/>
          </a:p>
        </p:txBody>
      </p:sp>
      <p:sp>
        <p:nvSpPr>
          <p:cNvPr id="4" name="Footer Placeholder 3"/>
          <p:cNvSpPr>
            <a:spLocks noGrp="1"/>
          </p:cNvSpPr>
          <p:nvPr>
            <p:ph type="ftr" sz="quarter" idx="11"/>
          </p:nvPr>
        </p:nvSpPr>
        <p:spPr/>
        <p:txBody>
          <a:bodyPr/>
          <a:lstStyle/>
          <a:p>
            <a:endParaRPr lang="ar-IQ"/>
          </a:p>
        </p:txBody>
      </p:sp>
      <p:sp>
        <p:nvSpPr>
          <p:cNvPr id="5" name="Slide Number Placeholder 4"/>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5A95B4-EB57-46D3-BC60-65C7FE28E53C}" type="datetimeFigureOut">
              <a:rPr lang="ar-IQ" smtClean="0"/>
              <a:t>23/11/1439</a:t>
            </a:fld>
            <a:endParaRPr lang="ar-IQ"/>
          </a:p>
        </p:txBody>
      </p:sp>
      <p:sp>
        <p:nvSpPr>
          <p:cNvPr id="3" name="Footer Placeholder 2"/>
          <p:cNvSpPr>
            <a:spLocks noGrp="1"/>
          </p:cNvSpPr>
          <p:nvPr>
            <p:ph type="ftr" sz="quarter" idx="11"/>
          </p:nvPr>
        </p:nvSpPr>
        <p:spPr/>
        <p:txBody>
          <a:bodyPr/>
          <a:lstStyle/>
          <a:p>
            <a:endParaRPr lang="ar-IQ"/>
          </a:p>
        </p:txBody>
      </p:sp>
      <p:sp>
        <p:nvSpPr>
          <p:cNvPr id="4" name="Slide Number Placeholder 3"/>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ar-IQ"/>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5A95B4-EB57-46D3-BC60-65C7FE28E53C}" type="datetimeFigureOut">
              <a:rPr lang="ar-IQ" smtClean="0"/>
              <a:t>23/11/1439</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ar-IQ"/>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IQ"/>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5A95B4-EB57-46D3-BC60-65C7FE28E53C}" type="datetimeFigureOut">
              <a:rPr lang="ar-IQ" smtClean="0"/>
              <a:t>23/11/1439</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Date Placeholder 3"/>
          <p:cNvSpPr>
            <a:spLocks noGrp="1"/>
          </p:cNvSpPr>
          <p:nvPr>
            <p:ph type="dt" sz="half" idx="10"/>
          </p:nvPr>
        </p:nvSpPr>
        <p:spPr/>
        <p:txBody>
          <a:bodyPr/>
          <a:lstStyle/>
          <a:p>
            <a:fld id="{C25A95B4-EB57-46D3-BC60-65C7FE28E53C}" type="datetimeFigureOut">
              <a:rPr lang="ar-IQ" smtClean="0"/>
              <a:t>23/11/1439</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ar-IQ"/>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Date Placeholder 3"/>
          <p:cNvSpPr>
            <a:spLocks noGrp="1"/>
          </p:cNvSpPr>
          <p:nvPr>
            <p:ph type="dt" sz="half" idx="10"/>
          </p:nvPr>
        </p:nvSpPr>
        <p:spPr/>
        <p:txBody>
          <a:bodyPr/>
          <a:lstStyle/>
          <a:p>
            <a:fld id="{C25A95B4-EB57-46D3-BC60-65C7FE28E53C}" type="datetimeFigureOut">
              <a:rPr lang="ar-IQ" smtClean="0"/>
              <a:t>23/11/1439</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150EDD01-CE51-410F-A9F8-856889BF0B9D}" type="slidenum">
              <a:rPr lang="ar-IQ" smtClean="0"/>
              <a:t>‹#›</a:t>
            </a:fld>
            <a:endParaRPr lang="ar-IQ"/>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ar-IQ"/>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25A95B4-EB57-46D3-BC60-65C7FE28E53C}" type="datetimeFigureOut">
              <a:rPr lang="ar-IQ" smtClean="0"/>
              <a:t>23/11/1439</a:t>
            </a:fld>
            <a:endParaRPr lang="ar-IQ"/>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IQ"/>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150EDD01-CE51-410F-A9F8-856889BF0B9D}" type="slidenum">
              <a:rPr lang="ar-IQ" smtClean="0"/>
              <a:t>‹#›</a:t>
            </a:fld>
            <a:endParaRPr lang="ar-IQ"/>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
            <a:ext cx="7572428" cy="1714488"/>
          </a:xfrm>
        </p:spPr>
        <p:txBody>
          <a:bodyPr/>
          <a:lstStyle/>
          <a:p>
            <a:r>
              <a:rPr lang="ar-IQ" dirty="0" smtClean="0"/>
              <a:t>تعريف العقد الالكتروني</a:t>
            </a:r>
            <a:endParaRPr lang="ar-IQ" dirty="0"/>
          </a:p>
        </p:txBody>
      </p:sp>
      <p:sp>
        <p:nvSpPr>
          <p:cNvPr id="3" name="Subtitle 2"/>
          <p:cNvSpPr>
            <a:spLocks noGrp="1"/>
          </p:cNvSpPr>
          <p:nvPr>
            <p:ph type="subTitle" idx="1"/>
          </p:nvPr>
        </p:nvSpPr>
        <p:spPr>
          <a:xfrm>
            <a:off x="1371600" y="1285860"/>
            <a:ext cx="6629424" cy="6286544"/>
          </a:xfrm>
        </p:spPr>
        <p:txBody>
          <a:bodyPr>
            <a:noAutofit/>
          </a:bodyPr>
          <a:lstStyle/>
          <a:p>
            <a:r>
              <a:rPr lang="ar-SA" sz="800" dirty="0"/>
              <a:t>ماهية العقد الإلكتروني وخصائصه </a:t>
            </a:r>
            <a:endParaRPr lang="ar-SA" sz="800" b="1" dirty="0" smtClean="0"/>
          </a:p>
          <a:p>
            <a:r>
              <a:rPr lang="ar-SA" sz="800" dirty="0"/>
              <a:t>      إن العقد الإلكتروني، في الواقع، لا يخرج في بنائه وتركيبة وأنواعه ومضمونه عن هذا السياق، ومن ثم فهو يخضع في تنظيمه للأحكام الواردة في النظرية العامة للعقد، وهو من العقود غير المسماة حيث لم يضع المشرع تنظيماً خاصاً له.</a:t>
            </a:r>
            <a:endParaRPr lang="ar-SA" sz="800" dirty="0" smtClean="0"/>
          </a:p>
          <a:p>
            <a:r>
              <a:rPr lang="ar-SA" sz="800" b="1" dirty="0"/>
              <a:t>(أ) المقصود بالعقد الإلكتروني: </a:t>
            </a:r>
            <a:endParaRPr lang="ar-SA" sz="800" b="1" dirty="0" smtClean="0"/>
          </a:p>
          <a:p>
            <a:r>
              <a:rPr lang="ar-SA" sz="800" dirty="0"/>
              <a:t>ولما كان العقد الإلكتروني من طائفة العقود عن بعد، فقد عرفت المادة الثانية من التوجيه الأوربي الصادر في 20 مايو 1997، والمتعلق بحماية المستهلك في العقود المبرمة عن بعد، المقصود بالتعاقد عن بعد بأنه" أي عقد متعلق بالسلع والخدمات يتم بين مورد ومستهلك من خلال الإطار التنظيمي الخاص بالبيع عن بعد أو تقديم الخدمات التي ينظمها المورد،والذي يتم باستخدام واحدة أو أكثر من وسائل الاتصال الإلكترونية،حتى إتمام التعاقد ".</a:t>
            </a:r>
            <a:endParaRPr lang="ar-SA" sz="800" dirty="0" smtClean="0"/>
          </a:p>
          <a:p>
            <a:r>
              <a:rPr lang="ar-SA" sz="800" dirty="0"/>
              <a:t>ويذهب بعض الفقه إلى تعريف العقد الإلكتروني بأنه " اتفاق يتلاقى فيه الإيجاب بالقبول علي شبكة دولية مفتوحة للاتصال عن بعد وذلك بوسيلة مسموعة مرئية، وبفضل التفاعل بين الموجب والقابل </a:t>
            </a:r>
            <a:r>
              <a:rPr lang="ar-SA" sz="800" dirty="0" smtClean="0"/>
              <a:t>، </a:t>
            </a:r>
          </a:p>
          <a:p>
            <a:r>
              <a:rPr lang="ar-SA" sz="800" dirty="0"/>
              <a:t>وهذا التعريف – في رأينا – هو تعريف ناقص حيث أنه لم يبين النتيجة المترتبة على التقاء الإيجاب بالقبول، وهى إحداث أثر قانوني وإنشاء التزامات تعاقدية.  </a:t>
            </a:r>
            <a:endParaRPr lang="ar-SA" sz="800" dirty="0" smtClean="0"/>
          </a:p>
          <a:p>
            <a:r>
              <a:rPr lang="ar-SA" sz="800" dirty="0"/>
              <a:t>ولما كان العقد الإلكتروني عبر شبكة الإنترنت يتميز بأنه يتم، في الغالب، على المستوي الدولي، فقد ذهب البعض إلى تعريف عقد التجارة الإلكتروني الدولي بأنه " هو العقد الذي تتلاقى فيه عروض السلع والخدمات بقبول من أشخاص في دول أخرى وذلك من خلال الوسائط التكنولوجية المتعددة، ومنها شبكة المعلومات الدولية الإنترنت، بهدف إتمام العقد </a:t>
            </a:r>
            <a:r>
              <a:rPr lang="ar-SA" sz="800" dirty="0" smtClean="0"/>
              <a:t> </a:t>
            </a:r>
          </a:p>
          <a:p>
            <a:r>
              <a:rPr lang="ar-SA" sz="800" dirty="0"/>
              <a:t>ومما سبق فقد عرف البعض العقد الإلكتروني بأنه " العقد الذي يتلاقي فيه الإيجاب بالقبول عبر شبكة اتصالات دولية باستخدام التبادل الإلكتروني للبيانات، وبقصد إنشاء التزامات تعاقدية ". فالعقد الإلكتروني إذن، هو التقاء إيجاب صادر من الموجب بشأن عرض مطروح بطريقة إلكترونية، سمعية أو مرئية أو كليهما على شبكة للاتصالات والمعلومات، بقبول مطابقله صادر من الطرف القابل بذات الطرق بهدف تحقيق عملية أو صفقة معينة يرغب الطرفان في </a:t>
            </a:r>
            <a:r>
              <a:rPr lang="ar-SA" sz="800" dirty="0" smtClean="0"/>
              <a:t>إنجازها</a:t>
            </a:r>
          </a:p>
          <a:p>
            <a:r>
              <a:rPr lang="ar-SA" sz="800" dirty="0"/>
              <a:t>      وتشتمل عملية التعاقد الإلكتروني، بخلاف الإيجاب والقبول الإلكتروني، على العديد من المعاملات الإلكترونية، مثل العروض والإعلان عن السلع والخدمات، وطلبات الشراء الإلكترونية، والفواتير الإلكترونية، وأوامر الدفع الإلكترونية.</a:t>
            </a:r>
            <a:endParaRPr lang="ar-SA" sz="800" dirty="0" smtClean="0"/>
          </a:p>
          <a:p>
            <a:r>
              <a:rPr lang="ar-SA" sz="800" dirty="0"/>
              <a:t>(ب) خصائص العقد الإلكتروني</a:t>
            </a:r>
            <a:r>
              <a:rPr lang="ar-SA" sz="800" dirty="0" smtClean="0"/>
              <a:t>:</a:t>
            </a:r>
            <a:endParaRPr lang="ar-SA" sz="800" b="1" dirty="0" smtClean="0"/>
          </a:p>
          <a:p>
            <a:r>
              <a:rPr lang="ar-SA" sz="800" dirty="0"/>
              <a:t>    يتضح مما سبق أن العقد الإلكتروني يتميز بعدة سمات تميزه عن العقود التقليدية وتتمثل فيما يلي:</a:t>
            </a:r>
            <a:endParaRPr lang="ar-SA" sz="800" dirty="0" smtClean="0"/>
          </a:p>
          <a:p>
            <a:r>
              <a:rPr lang="ar-SA" sz="800" dirty="0"/>
              <a:t>     1- يتم إبرام العقد الإلكتروني بدون التواجد المادي لأطرافه، فالسمة الأساسية للتعاقد الإلكتروني أنه يتم بين عاقدين لا يجمعهما مجلس عقد حقيقي حيث يتم التعاقد عن بعد بوسائل اتصال تكنولوجية، ولذلك فهو ينتمي إلى طائفة العقود عن بعد، حيث يتم تبادل الإيجاب والقبول الإلكتروني عبر الإنترنت فيجمعهم بذلك مجلس عقد حكمي افتراضي، ولذلك فهو عقد فوري متعاصر، وقد يكون العقد الإلكتروني غير متعاصر أي أن الإيجاب غير معاصر للقبول، وهذا التعاصر هو نتيجة صفة التفاعلية فيما بين أطراف العقد.</a:t>
            </a:r>
            <a:endParaRPr lang="ar-SA" sz="800" dirty="0" smtClean="0"/>
          </a:p>
          <a:p>
            <a:r>
              <a:rPr lang="ar-SA" sz="800" dirty="0"/>
              <a:t>      2- يتم استخدام الوسائط الإلكترونية في إبرام التعاقد، ويعد ذلك من أهم مظاهر الخصوصية في العقد الإلكتروني، بل إنها أساس هذا العقد حيث يتم إبرامه عبر شبكة اتصالات إلكترونية، فالعقد الإلكتروني لا يختلف من حيث الموضوع أو الأطراف عن سائر العقود التقليدية ولكنه يختلف فقط من حيث طريقة إبرامه وكونه يتم باستخدام وسائط إلكترونية وتلك الوسائط هي التي دفعت إلى اختفاء الكتابة التقليدية التي تقوم على الدعائم الورقية لتحل محلها الكتابة الإلكترونية التي تقوم على دعائم إلكترونية.</a:t>
            </a:r>
            <a:endParaRPr lang="ar-SA" sz="800" dirty="0" smtClean="0"/>
          </a:p>
          <a:p>
            <a:r>
              <a:rPr lang="ar-SA" sz="800" dirty="0"/>
              <a:t>      3- يتصف العقد الإلكتروني غالباً بالطابع التجاري والاستهلاكي، لذلك يطلق عليه عقد التجارة الإلكترونية، وقد جاءت تلك الصفة من السمة الغالبة لذلك العقد حيث أن عقود البيع الإلكترونية تستحوذ على الجانب الأعظم من مجمل العقود. </a:t>
            </a:r>
            <a:endParaRPr lang="ar-SA" sz="800" dirty="0" smtClean="0"/>
          </a:p>
          <a:p>
            <a:r>
              <a:rPr lang="ar-SA" sz="800" dirty="0"/>
              <a:t>ويترتب على ذلك أن العقد الإلكتروني يتسم بطابع الاستهلاك لأنه غالباً ما يتم بين تاجر أو مهني ومستهلك، ومن ثم فإنه يعتبر من قبيل عقود الاستهلاك ولذلك يخضع العقد الإلكتروني، عادة، للقواعد الخاصة بحماية المستهلك. </a:t>
            </a:r>
            <a:endParaRPr lang="ar-SA" sz="800" dirty="0" smtClean="0"/>
          </a:p>
          <a:p>
            <a:r>
              <a:rPr lang="ar-SA" sz="800" dirty="0"/>
              <a:t>      4- من حيث الوفاء، فقد حلت وسائل الدفع الإلكترونية، في التعاقد الإلكتروني  محل النقود العادية، ذلك أنه مع تطور التكنولوجيا وازدياد التعامل بأسلوب التجارة الإلكترونية ظهرت تلك الوسائل كأسلوب مبتكر لسداد المدفوعات في مثل هذه المعاملات</a:t>
            </a:r>
            <a:r>
              <a:rPr lang="ar-SA" sz="800" dirty="0" smtClean="0"/>
              <a:t>.</a:t>
            </a:r>
            <a:r>
              <a:rPr lang="ar-SA" sz="800" u="sng" dirty="0" smtClean="0"/>
              <a:t>(</a:t>
            </a:r>
            <a:r>
              <a:rPr lang="ar-SA" sz="800" dirty="0" smtClean="0"/>
              <a:t> </a:t>
            </a:r>
          </a:p>
          <a:p>
            <a:r>
              <a:rPr lang="ar-SA" sz="800" dirty="0"/>
              <a:t>      وتتضمن وسائل الدفع الإلكترونية المستخدمة في التجارة الإلكترونية عدة وسائل منها البطاقات البنكية، والأوراق التجارية الإلكترونية، والنقود الإلكترونية، والتي تتمثل في نوعين هما، النقود الرقمية،والمحفظة الإلكترونية . </a:t>
            </a:r>
            <a:endParaRPr lang="ar-SA" sz="800" dirty="0" smtClean="0"/>
          </a:p>
          <a:p>
            <a:r>
              <a:rPr lang="ar-SA" sz="800" dirty="0"/>
              <a:t>      5- من حيث الإثبات، فالدعامة الورقية هي التي تجسد الوجود المادي للعقد التقليدي، ولا تعد الكتابة دليلاً كاملاً للإثبات، إلا إذا كانت موقعة بالتوقيع اليدوي، أما العقد الإلكتروني فيتم إثباته عبر المستند الإلكتروني والتوقيع الإلكتروني، فالمستند الإلكتروني يتبلور فيه حقوق طرفي التعاقد، فهو المرجع للوقوف على ما أتفق عليه الطرفان وتحديد التزاماتهما القانونية، والتوقيع الإلكتروني هو الذي يضفي حجية على هذا المستند.</a:t>
            </a:r>
            <a:endParaRPr lang="ar-SA" sz="800" dirty="0" smtClean="0"/>
          </a:p>
          <a:p>
            <a:endParaRPr lang="ar-IQ"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775</Words>
  <Application>Microsoft Office PowerPoint</Application>
  <PresentationFormat>On-screen Show (4:3)</PresentationFormat>
  <Paragraphs>19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تعريف العقد الالكتروني</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تعريف العقد الالكتروني</dc:title>
  <dc:creator>AboDanYa</dc:creator>
  <cp:lastModifiedBy>AboDanYa</cp:lastModifiedBy>
  <cp:revision>1</cp:revision>
  <dcterms:created xsi:type="dcterms:W3CDTF">2018-08-04T11:17:06Z</dcterms:created>
  <dcterms:modified xsi:type="dcterms:W3CDTF">2018-08-04T11:20:32Z</dcterms:modified>
</cp:coreProperties>
</file>